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57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5" r:id="rId20"/>
    <p:sldId id="273" r:id="rId21"/>
    <p:sldId id="274" r:id="rId22"/>
    <p:sldId id="272" r:id="rId23"/>
    <p:sldId id="278" r:id="rId24"/>
    <p:sldId id="277" r:id="rId25"/>
    <p:sldId id="271" r:id="rId26"/>
    <p:sldId id="279" r:id="rId27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86DB72-B37D-401F-A3D9-EB23055312A7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06B8656-9692-46AD-833E-EA2D836AB65E}">
      <dgm:prSet/>
      <dgm:spPr/>
      <dgm:t>
        <a:bodyPr/>
        <a:lstStyle/>
        <a:p>
          <a:r>
            <a:rPr lang="es-CL"/>
            <a:t>Se cumplió con el objetivo planteado</a:t>
          </a:r>
          <a:endParaRPr lang="en-US"/>
        </a:p>
      </dgm:t>
    </dgm:pt>
    <dgm:pt modelId="{544C570B-DFE7-402C-8CBD-196E6D13CB49}" type="parTrans" cxnId="{1E5E9983-8976-4D2A-B866-2C66CB2D6FF5}">
      <dgm:prSet/>
      <dgm:spPr/>
      <dgm:t>
        <a:bodyPr/>
        <a:lstStyle/>
        <a:p>
          <a:endParaRPr lang="en-US"/>
        </a:p>
      </dgm:t>
    </dgm:pt>
    <dgm:pt modelId="{CACB3063-C508-4E3C-B3A5-A89FB61880E4}" type="sibTrans" cxnId="{1E5E9983-8976-4D2A-B866-2C66CB2D6FF5}">
      <dgm:prSet/>
      <dgm:spPr/>
      <dgm:t>
        <a:bodyPr/>
        <a:lstStyle/>
        <a:p>
          <a:endParaRPr lang="en-US"/>
        </a:p>
      </dgm:t>
    </dgm:pt>
    <dgm:pt modelId="{44AFADDF-A13D-4BAB-B1E5-FDDA8963F248}">
      <dgm:prSet/>
      <dgm:spPr/>
      <dgm:t>
        <a:bodyPr/>
        <a:lstStyle/>
        <a:p>
          <a:r>
            <a:rPr lang="es-CL"/>
            <a:t>Runge-Kutta como modelo estable</a:t>
          </a:r>
          <a:endParaRPr lang="en-US"/>
        </a:p>
      </dgm:t>
    </dgm:pt>
    <dgm:pt modelId="{7DE7A079-6928-44AA-BEFB-50986109BB89}" type="parTrans" cxnId="{3EAF9A83-887D-493B-9699-41C33C9E56E4}">
      <dgm:prSet/>
      <dgm:spPr/>
      <dgm:t>
        <a:bodyPr/>
        <a:lstStyle/>
        <a:p>
          <a:endParaRPr lang="en-US"/>
        </a:p>
      </dgm:t>
    </dgm:pt>
    <dgm:pt modelId="{6C6C3D40-CDD9-4863-8894-8D1CE77756DB}" type="sibTrans" cxnId="{3EAF9A83-887D-493B-9699-41C33C9E56E4}">
      <dgm:prSet/>
      <dgm:spPr/>
      <dgm:t>
        <a:bodyPr/>
        <a:lstStyle/>
        <a:p>
          <a:endParaRPr lang="en-US"/>
        </a:p>
      </dgm:t>
    </dgm:pt>
    <dgm:pt modelId="{FF22B955-708A-4BED-9BEF-CCC2EB67927B}">
      <dgm:prSet/>
      <dgm:spPr/>
      <dgm:t>
        <a:bodyPr/>
        <a:lstStyle/>
        <a:p>
          <a:r>
            <a:rPr lang="es-CL"/>
            <a:t>Sistema altamente sensible a parámetros</a:t>
          </a:r>
          <a:endParaRPr lang="en-US"/>
        </a:p>
      </dgm:t>
    </dgm:pt>
    <dgm:pt modelId="{2F513B2E-0C8F-49D6-8C3E-5D236FD557EC}" type="parTrans" cxnId="{2909F698-94F3-44D7-91AB-FBACCF3771B5}">
      <dgm:prSet/>
      <dgm:spPr/>
      <dgm:t>
        <a:bodyPr/>
        <a:lstStyle/>
        <a:p>
          <a:endParaRPr lang="en-US"/>
        </a:p>
      </dgm:t>
    </dgm:pt>
    <dgm:pt modelId="{86DCB5E7-3AF2-436A-970F-124596D10ED2}" type="sibTrans" cxnId="{2909F698-94F3-44D7-91AB-FBACCF3771B5}">
      <dgm:prSet/>
      <dgm:spPr/>
      <dgm:t>
        <a:bodyPr/>
        <a:lstStyle/>
        <a:p>
          <a:endParaRPr lang="en-US"/>
        </a:p>
      </dgm:t>
    </dgm:pt>
    <dgm:pt modelId="{97555E42-2ED9-48DB-A3A1-66711C36CE09}" type="pres">
      <dgm:prSet presAssocID="{4786DB72-B37D-401F-A3D9-EB23055312A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AC88F79-FE03-466D-80E4-CCBE425B1835}" type="pres">
      <dgm:prSet presAssocID="{706B8656-9692-46AD-833E-EA2D836AB65E}" presName="hierRoot1" presStyleCnt="0"/>
      <dgm:spPr/>
    </dgm:pt>
    <dgm:pt modelId="{A623EBBA-ED63-4810-A8EE-050B3EC4628A}" type="pres">
      <dgm:prSet presAssocID="{706B8656-9692-46AD-833E-EA2D836AB65E}" presName="composite" presStyleCnt="0"/>
      <dgm:spPr/>
    </dgm:pt>
    <dgm:pt modelId="{84067E69-506D-477B-B757-F5CFB71105A0}" type="pres">
      <dgm:prSet presAssocID="{706B8656-9692-46AD-833E-EA2D836AB65E}" presName="background" presStyleLbl="node0" presStyleIdx="0" presStyleCnt="3"/>
      <dgm:spPr/>
    </dgm:pt>
    <dgm:pt modelId="{B18C7EC7-0DF5-45C7-8E11-F1CEC24F0CEF}" type="pres">
      <dgm:prSet presAssocID="{706B8656-9692-46AD-833E-EA2D836AB65E}" presName="text" presStyleLbl="fgAcc0" presStyleIdx="0" presStyleCnt="3">
        <dgm:presLayoutVars>
          <dgm:chPref val="3"/>
        </dgm:presLayoutVars>
      </dgm:prSet>
      <dgm:spPr/>
    </dgm:pt>
    <dgm:pt modelId="{2BAB04AC-012D-4A4C-AB27-5A2BE78ECC8B}" type="pres">
      <dgm:prSet presAssocID="{706B8656-9692-46AD-833E-EA2D836AB65E}" presName="hierChild2" presStyleCnt="0"/>
      <dgm:spPr/>
    </dgm:pt>
    <dgm:pt modelId="{20AB4086-3892-433E-B4A5-D7EA83B7B810}" type="pres">
      <dgm:prSet presAssocID="{44AFADDF-A13D-4BAB-B1E5-FDDA8963F248}" presName="hierRoot1" presStyleCnt="0"/>
      <dgm:spPr/>
    </dgm:pt>
    <dgm:pt modelId="{A8D39AC8-D95F-4F87-9B84-F2136EC6AE1B}" type="pres">
      <dgm:prSet presAssocID="{44AFADDF-A13D-4BAB-B1E5-FDDA8963F248}" presName="composite" presStyleCnt="0"/>
      <dgm:spPr/>
    </dgm:pt>
    <dgm:pt modelId="{CFA4B1ED-52C0-4B77-B533-6DBD41F68E92}" type="pres">
      <dgm:prSet presAssocID="{44AFADDF-A13D-4BAB-B1E5-FDDA8963F248}" presName="background" presStyleLbl="node0" presStyleIdx="1" presStyleCnt="3"/>
      <dgm:spPr/>
    </dgm:pt>
    <dgm:pt modelId="{9B62EDBE-FEA4-49ED-BA34-8C3FD3F3BCD3}" type="pres">
      <dgm:prSet presAssocID="{44AFADDF-A13D-4BAB-B1E5-FDDA8963F248}" presName="text" presStyleLbl="fgAcc0" presStyleIdx="1" presStyleCnt="3">
        <dgm:presLayoutVars>
          <dgm:chPref val="3"/>
        </dgm:presLayoutVars>
      </dgm:prSet>
      <dgm:spPr/>
    </dgm:pt>
    <dgm:pt modelId="{20D00BB0-7723-4635-9A6F-50BBD1B945FD}" type="pres">
      <dgm:prSet presAssocID="{44AFADDF-A13D-4BAB-B1E5-FDDA8963F248}" presName="hierChild2" presStyleCnt="0"/>
      <dgm:spPr/>
    </dgm:pt>
    <dgm:pt modelId="{C1114C95-A983-4917-9F1F-8BE422E3DD78}" type="pres">
      <dgm:prSet presAssocID="{FF22B955-708A-4BED-9BEF-CCC2EB67927B}" presName="hierRoot1" presStyleCnt="0"/>
      <dgm:spPr/>
    </dgm:pt>
    <dgm:pt modelId="{3F798D5F-8E63-4C78-88AF-86744B72CC40}" type="pres">
      <dgm:prSet presAssocID="{FF22B955-708A-4BED-9BEF-CCC2EB67927B}" presName="composite" presStyleCnt="0"/>
      <dgm:spPr/>
    </dgm:pt>
    <dgm:pt modelId="{C2AF2CC1-147F-46B7-9F5C-E32333EECB18}" type="pres">
      <dgm:prSet presAssocID="{FF22B955-708A-4BED-9BEF-CCC2EB67927B}" presName="background" presStyleLbl="node0" presStyleIdx="2" presStyleCnt="3"/>
      <dgm:spPr/>
    </dgm:pt>
    <dgm:pt modelId="{E8D32D13-5CF0-43CE-A25F-3F302DE66DA1}" type="pres">
      <dgm:prSet presAssocID="{FF22B955-708A-4BED-9BEF-CCC2EB67927B}" presName="text" presStyleLbl="fgAcc0" presStyleIdx="2" presStyleCnt="3">
        <dgm:presLayoutVars>
          <dgm:chPref val="3"/>
        </dgm:presLayoutVars>
      </dgm:prSet>
      <dgm:spPr/>
    </dgm:pt>
    <dgm:pt modelId="{97E8B20B-0568-4EED-8F71-5754886863DE}" type="pres">
      <dgm:prSet presAssocID="{FF22B955-708A-4BED-9BEF-CCC2EB67927B}" presName="hierChild2" presStyleCnt="0"/>
      <dgm:spPr/>
    </dgm:pt>
  </dgm:ptLst>
  <dgm:cxnLst>
    <dgm:cxn modelId="{0CFEBE3C-74E2-4664-B2B7-6C8BD8256E9E}" type="presOf" srcId="{44AFADDF-A13D-4BAB-B1E5-FDDA8963F248}" destId="{9B62EDBE-FEA4-49ED-BA34-8C3FD3F3BCD3}" srcOrd="0" destOrd="0" presId="urn:microsoft.com/office/officeart/2005/8/layout/hierarchy1"/>
    <dgm:cxn modelId="{1E5E9983-8976-4D2A-B866-2C66CB2D6FF5}" srcId="{4786DB72-B37D-401F-A3D9-EB23055312A7}" destId="{706B8656-9692-46AD-833E-EA2D836AB65E}" srcOrd="0" destOrd="0" parTransId="{544C570B-DFE7-402C-8CBD-196E6D13CB49}" sibTransId="{CACB3063-C508-4E3C-B3A5-A89FB61880E4}"/>
    <dgm:cxn modelId="{3EAF9A83-887D-493B-9699-41C33C9E56E4}" srcId="{4786DB72-B37D-401F-A3D9-EB23055312A7}" destId="{44AFADDF-A13D-4BAB-B1E5-FDDA8963F248}" srcOrd="1" destOrd="0" parTransId="{7DE7A079-6928-44AA-BEFB-50986109BB89}" sibTransId="{6C6C3D40-CDD9-4863-8894-8D1CE77756DB}"/>
    <dgm:cxn modelId="{887B7887-77D4-42FF-B248-03E9FB451C94}" type="presOf" srcId="{FF22B955-708A-4BED-9BEF-CCC2EB67927B}" destId="{E8D32D13-5CF0-43CE-A25F-3F302DE66DA1}" srcOrd="0" destOrd="0" presId="urn:microsoft.com/office/officeart/2005/8/layout/hierarchy1"/>
    <dgm:cxn modelId="{2909F698-94F3-44D7-91AB-FBACCF3771B5}" srcId="{4786DB72-B37D-401F-A3D9-EB23055312A7}" destId="{FF22B955-708A-4BED-9BEF-CCC2EB67927B}" srcOrd="2" destOrd="0" parTransId="{2F513B2E-0C8F-49D6-8C3E-5D236FD557EC}" sibTransId="{86DCB5E7-3AF2-436A-970F-124596D10ED2}"/>
    <dgm:cxn modelId="{2EAE38B0-37DA-4DF7-8982-2B95AE154A73}" type="presOf" srcId="{706B8656-9692-46AD-833E-EA2D836AB65E}" destId="{B18C7EC7-0DF5-45C7-8E11-F1CEC24F0CEF}" srcOrd="0" destOrd="0" presId="urn:microsoft.com/office/officeart/2005/8/layout/hierarchy1"/>
    <dgm:cxn modelId="{B101D4F9-40C6-409C-8B06-E18FA5B7562A}" type="presOf" srcId="{4786DB72-B37D-401F-A3D9-EB23055312A7}" destId="{97555E42-2ED9-48DB-A3A1-66711C36CE09}" srcOrd="0" destOrd="0" presId="urn:microsoft.com/office/officeart/2005/8/layout/hierarchy1"/>
    <dgm:cxn modelId="{12029FD4-F89D-49A8-A9DD-914C9845E2BD}" type="presParOf" srcId="{97555E42-2ED9-48DB-A3A1-66711C36CE09}" destId="{1AC88F79-FE03-466D-80E4-CCBE425B1835}" srcOrd="0" destOrd="0" presId="urn:microsoft.com/office/officeart/2005/8/layout/hierarchy1"/>
    <dgm:cxn modelId="{7A6B6F35-0637-4D57-A295-700D5CD58A57}" type="presParOf" srcId="{1AC88F79-FE03-466D-80E4-CCBE425B1835}" destId="{A623EBBA-ED63-4810-A8EE-050B3EC4628A}" srcOrd="0" destOrd="0" presId="urn:microsoft.com/office/officeart/2005/8/layout/hierarchy1"/>
    <dgm:cxn modelId="{616933B5-8828-4E60-9508-1F463EDBD1F2}" type="presParOf" srcId="{A623EBBA-ED63-4810-A8EE-050B3EC4628A}" destId="{84067E69-506D-477B-B757-F5CFB71105A0}" srcOrd="0" destOrd="0" presId="urn:microsoft.com/office/officeart/2005/8/layout/hierarchy1"/>
    <dgm:cxn modelId="{500F00B2-4B28-40F9-B424-68A1833E38D2}" type="presParOf" srcId="{A623EBBA-ED63-4810-A8EE-050B3EC4628A}" destId="{B18C7EC7-0DF5-45C7-8E11-F1CEC24F0CEF}" srcOrd="1" destOrd="0" presId="urn:microsoft.com/office/officeart/2005/8/layout/hierarchy1"/>
    <dgm:cxn modelId="{E1C0BB14-B398-4950-8AA2-8FD2BA0E3988}" type="presParOf" srcId="{1AC88F79-FE03-466D-80E4-CCBE425B1835}" destId="{2BAB04AC-012D-4A4C-AB27-5A2BE78ECC8B}" srcOrd="1" destOrd="0" presId="urn:microsoft.com/office/officeart/2005/8/layout/hierarchy1"/>
    <dgm:cxn modelId="{E6976EC8-ED5A-4810-954C-E98B20B9777D}" type="presParOf" srcId="{97555E42-2ED9-48DB-A3A1-66711C36CE09}" destId="{20AB4086-3892-433E-B4A5-D7EA83B7B810}" srcOrd="1" destOrd="0" presId="urn:microsoft.com/office/officeart/2005/8/layout/hierarchy1"/>
    <dgm:cxn modelId="{5B537ECD-ABC1-44BE-A92E-9369317F047D}" type="presParOf" srcId="{20AB4086-3892-433E-B4A5-D7EA83B7B810}" destId="{A8D39AC8-D95F-4F87-9B84-F2136EC6AE1B}" srcOrd="0" destOrd="0" presId="urn:microsoft.com/office/officeart/2005/8/layout/hierarchy1"/>
    <dgm:cxn modelId="{38A25D28-8EBB-444A-B230-9D94B99A8A2D}" type="presParOf" srcId="{A8D39AC8-D95F-4F87-9B84-F2136EC6AE1B}" destId="{CFA4B1ED-52C0-4B77-B533-6DBD41F68E92}" srcOrd="0" destOrd="0" presId="urn:microsoft.com/office/officeart/2005/8/layout/hierarchy1"/>
    <dgm:cxn modelId="{F2714005-DB1D-4474-BB0A-D93597B3C60D}" type="presParOf" srcId="{A8D39AC8-D95F-4F87-9B84-F2136EC6AE1B}" destId="{9B62EDBE-FEA4-49ED-BA34-8C3FD3F3BCD3}" srcOrd="1" destOrd="0" presId="urn:microsoft.com/office/officeart/2005/8/layout/hierarchy1"/>
    <dgm:cxn modelId="{7C0C63CD-2913-459D-8E2D-D73E63765924}" type="presParOf" srcId="{20AB4086-3892-433E-B4A5-D7EA83B7B810}" destId="{20D00BB0-7723-4635-9A6F-50BBD1B945FD}" srcOrd="1" destOrd="0" presId="urn:microsoft.com/office/officeart/2005/8/layout/hierarchy1"/>
    <dgm:cxn modelId="{058FD5DF-869D-438F-9099-DABB6B14B10C}" type="presParOf" srcId="{97555E42-2ED9-48DB-A3A1-66711C36CE09}" destId="{C1114C95-A983-4917-9F1F-8BE422E3DD78}" srcOrd="2" destOrd="0" presId="urn:microsoft.com/office/officeart/2005/8/layout/hierarchy1"/>
    <dgm:cxn modelId="{B0464F60-CAB4-4FC0-BE1C-6070A5CC2625}" type="presParOf" srcId="{C1114C95-A983-4917-9F1F-8BE422E3DD78}" destId="{3F798D5F-8E63-4C78-88AF-86744B72CC40}" srcOrd="0" destOrd="0" presId="urn:microsoft.com/office/officeart/2005/8/layout/hierarchy1"/>
    <dgm:cxn modelId="{7EC5D3E6-9F05-4357-9DDC-2F7138E4A1E6}" type="presParOf" srcId="{3F798D5F-8E63-4C78-88AF-86744B72CC40}" destId="{C2AF2CC1-147F-46B7-9F5C-E32333EECB18}" srcOrd="0" destOrd="0" presId="urn:microsoft.com/office/officeart/2005/8/layout/hierarchy1"/>
    <dgm:cxn modelId="{B14EE878-2EE7-4029-98DA-CBBD884D2365}" type="presParOf" srcId="{3F798D5F-8E63-4C78-88AF-86744B72CC40}" destId="{E8D32D13-5CF0-43CE-A25F-3F302DE66DA1}" srcOrd="1" destOrd="0" presId="urn:microsoft.com/office/officeart/2005/8/layout/hierarchy1"/>
    <dgm:cxn modelId="{59E3A083-4B66-4AE8-9B28-B2048A48FBB6}" type="presParOf" srcId="{C1114C95-A983-4917-9F1F-8BE422E3DD78}" destId="{97E8B20B-0568-4EED-8F71-5754886863D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067E69-506D-477B-B757-F5CFB71105A0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8C7EC7-0DF5-45C7-8E11-F1CEC24F0CEF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700" kern="1200"/>
            <a:t>Se cumplió con el objetivo planteado</a:t>
          </a:r>
          <a:endParaRPr lang="en-US" sz="2700" kern="1200"/>
        </a:p>
      </dsp:txBody>
      <dsp:txXfrm>
        <a:off x="378614" y="886531"/>
        <a:ext cx="2810360" cy="1744948"/>
      </dsp:txXfrm>
    </dsp:sp>
    <dsp:sp modelId="{CFA4B1ED-52C0-4B77-B533-6DBD41F68E92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62EDBE-FEA4-49ED-BA34-8C3FD3F3BCD3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700" kern="1200"/>
            <a:t>Runge-Kutta como modelo estable</a:t>
          </a:r>
          <a:endParaRPr lang="en-US" sz="2700" kern="1200"/>
        </a:p>
      </dsp:txBody>
      <dsp:txXfrm>
        <a:off x="3946203" y="886531"/>
        <a:ext cx="2810360" cy="1744948"/>
      </dsp:txXfrm>
    </dsp:sp>
    <dsp:sp modelId="{C2AF2CC1-147F-46B7-9F5C-E32333EECB18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D32D13-5CF0-43CE-A25F-3F302DE66DA1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700" kern="1200"/>
            <a:t>Sistema altamente sensible a parámetros</a:t>
          </a:r>
          <a:endParaRPr lang="en-US" sz="2700" kern="1200"/>
        </a:p>
      </dsp:txBody>
      <dsp:txXfrm>
        <a:off x="7513791" y="886531"/>
        <a:ext cx="2810360" cy="1744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4B5AB5-BFD7-CD15-CEDF-54D18FD051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E4721D-9E30-D001-533C-9298EDC7D4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2E29FC-B677-3CE3-79EA-5C68DBB68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45D31-1909-4571-8624-9254145A1F0C}" type="datetimeFigureOut">
              <a:rPr lang="es-CL" smtClean="0"/>
              <a:t>03-12-2025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BC33E0-F9D9-82FF-975B-185A3828B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13E8B9-7BD4-13DE-4DB8-3C82F87DC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4A5F1-E559-466E-BCFA-74BD8C6AD7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13246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F143E-CCCA-6453-2DAF-3D9919782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ECD30E-EE4F-F29C-B604-04349D2B9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8C723C-34E6-DA7B-D2B1-FFAEF7C42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45D31-1909-4571-8624-9254145A1F0C}" type="datetimeFigureOut">
              <a:rPr lang="es-CL" smtClean="0"/>
              <a:t>03-12-2025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45965E-98DC-06FA-59CB-0FED5A9FA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BAD8AC-68CE-F899-C78B-0AAD325CB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4A5F1-E559-466E-BCFA-74BD8C6AD7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38252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37E6EF-B8F7-1D6B-8F18-614654D45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28452E-717F-9546-A7E6-AD3DDDE6A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345C40-8F4C-834B-D5F9-BDB5CA8A2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45D31-1909-4571-8624-9254145A1F0C}" type="datetimeFigureOut">
              <a:rPr lang="es-CL" smtClean="0"/>
              <a:t>03-12-2025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D10E8C-FB3E-776A-BC87-93E9F8CF0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9E6828-C79F-7C86-354D-3224ADB02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4A5F1-E559-466E-BCFA-74BD8C6AD7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94927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80AD33-A38B-A103-122C-0DAF8031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E3F4ED-7145-9E4A-B9DD-763DB7CD15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CA003B-78F9-D5A8-9BCC-982016C30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576754-952F-F00C-4EEB-C01B2F6D4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45D31-1909-4571-8624-9254145A1F0C}" type="datetimeFigureOut">
              <a:rPr lang="es-CL" smtClean="0"/>
              <a:t>03-12-2025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9F5B53E-0561-58E0-A2E6-DDFE9C4A1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AAE0DDA-C4B0-C7A8-DB35-E8D2AF41F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4A5F1-E559-466E-BCFA-74BD8C6AD7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08093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8C107C-EAAF-F261-B5BF-EC6CE6AFD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1F090C-A1FC-F243-DBB0-F43606597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45B145F-553C-9526-0C6D-B732F02F50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9E8FE24-F29F-0ED0-728B-A6722CA0CA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F1DCC61-6EF0-ACAD-15BD-9FEDC1AF86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700F1DC-A82D-2734-C661-860EFEA10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45D31-1909-4571-8624-9254145A1F0C}" type="datetimeFigureOut">
              <a:rPr lang="es-CL" smtClean="0"/>
              <a:t>03-12-2025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65479D2-B514-5019-C57B-A24951754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3C70023-9A09-B113-E6D7-0E0C4DF89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4A5F1-E559-466E-BCFA-74BD8C6AD7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6607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E7EFDB-04AB-B12B-3C63-CBEE885DA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6EFD0DB-33DC-F041-6875-0EDD75467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45D31-1909-4571-8624-9254145A1F0C}" type="datetimeFigureOut">
              <a:rPr lang="es-CL" smtClean="0"/>
              <a:t>03-12-2025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F2C3067-6FA9-9579-B173-489240770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5B248E7-4951-FC37-D5B5-5ED24F303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4A5F1-E559-466E-BCFA-74BD8C6AD7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56566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67F4438-031D-84C8-0E9F-940190FEA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45D31-1909-4571-8624-9254145A1F0C}" type="datetimeFigureOut">
              <a:rPr lang="es-CL" smtClean="0"/>
              <a:t>03-12-2025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B04E3CC-4872-CA3E-9900-1C4D85CCD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CCCBDA-C6E6-CB0C-672E-D05696816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4A5F1-E559-466E-BCFA-74BD8C6AD7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4808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1E89AB-9B24-BEAE-29A9-C5308ABEC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1B8F8B-7857-952A-92E8-559916297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9C3E9F5-82A4-8856-99EE-995DADB1E9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04899B5-67D2-D87D-8177-9EC9A8FA3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45D31-1909-4571-8624-9254145A1F0C}" type="datetimeFigureOut">
              <a:rPr lang="es-CL" smtClean="0"/>
              <a:t>03-12-2025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3DBA069-538D-6254-E89B-5E8DAAC19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A39276-1E4A-DA22-E922-7D339BD1C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4A5F1-E559-466E-BCFA-74BD8C6AD7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9786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1408DE-D27F-3C4A-CD7B-AC3DA0416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71DF615-08D7-BDE6-119A-092FEF3327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B91E521-B349-A552-88AA-73379233B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85B3EA-C9BA-F93A-8257-48D1E888B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45D31-1909-4571-8624-9254145A1F0C}" type="datetimeFigureOut">
              <a:rPr lang="es-CL" smtClean="0"/>
              <a:t>03-12-2025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2ADD43-79C9-C88D-83C8-DE3F7D6BD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4DDA6AF-349C-B74E-A489-B8E5BBA23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4A5F1-E559-466E-BCFA-74BD8C6AD7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84588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465008-0544-1241-1E9E-76C248C28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AA5D665-F36D-DB8D-CCC3-E693174E6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CD4F04-DE69-443F-D070-11867BC9F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45D31-1909-4571-8624-9254145A1F0C}" type="datetimeFigureOut">
              <a:rPr lang="es-CL" smtClean="0"/>
              <a:t>03-12-2025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2C9858-2A81-427A-7F38-797096872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CEADF4-EBCC-E48B-7908-CFB63EAC8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4A5F1-E559-466E-BCFA-74BD8C6AD7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74650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3F06076-ED43-248D-B707-EC28388DFE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5A1C26C-EA27-42B9-56DC-CD7902A55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66AC1D-903D-01C1-7802-4F9D60FBF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45D31-1909-4571-8624-9254145A1F0C}" type="datetimeFigureOut">
              <a:rPr lang="es-CL" smtClean="0"/>
              <a:t>03-12-2025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B529BC-5E39-4471-5E6B-9D3BB2181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A568C0-07C6-14BF-90FE-684D133D0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4A5F1-E559-466E-BCFA-74BD8C6AD7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019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B47C884-16BE-DCA2-7334-468969AAE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99DBBF-F724-4AED-3001-34A86E7F8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CAB2F4-58BA-4681-575D-7B7E8C1DF6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545D31-1909-4571-8624-9254145A1F0C}" type="datetimeFigureOut">
              <a:rPr lang="es-CL" smtClean="0"/>
              <a:t>03-12-2025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ED25AC-DF44-5E7C-B23E-8BCFA41445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34EA9F-5AAD-0203-DC4B-75F1A5BC14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A4A5F1-E559-466E-BCFA-74BD8C6AD7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83525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NIjhOt5LaL4?feature=oembed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usp.br/ldsv/wp-content/uploads/sites/1453/2024/08/High-downforce-race-car-vertical-dynamics-aerodynamic-index_17.pdf?" TargetMode="External"/><Relationship Id="rId2" Type="http://schemas.openxmlformats.org/officeDocument/2006/relationships/hyperlink" Target="https://www.mdpi.com/1996-1073/15/18/6677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5897D8-070F-351E-81F4-CD54F9117A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CL" sz="4400" dirty="0">
                <a:latin typeface="Arial Black" panose="020B0A04020102020204" pitchFamily="34" charset="0"/>
                <a:cs typeface="Aharoni" panose="02010803020104030203" pitchFamily="2" charset="-79"/>
              </a:rPr>
              <a:t>Simulación de </a:t>
            </a:r>
            <a:r>
              <a:rPr lang="es-CL" sz="4400" dirty="0" err="1">
                <a:latin typeface="Arial Black" panose="020B0A04020102020204" pitchFamily="34" charset="0"/>
                <a:cs typeface="Aharoni" panose="02010803020104030203" pitchFamily="2" charset="-79"/>
              </a:rPr>
              <a:t>porpoising</a:t>
            </a:r>
            <a:r>
              <a:rPr lang="es-CL" sz="4400" dirty="0">
                <a:latin typeface="Arial Black" panose="020B0A04020102020204" pitchFamily="34" charset="0"/>
                <a:cs typeface="Aharoni" panose="02010803020104030203" pitchFamily="2" charset="-79"/>
              </a:rPr>
              <a:t> en autos de F1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A5AED83-D60A-686D-00E1-680E722D11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dirty="0">
                <a:latin typeface="Arial Black" panose="020B0A04020102020204" pitchFamily="34" charset="0"/>
              </a:rPr>
              <a:t>Nombre: Matías Vega</a:t>
            </a:r>
          </a:p>
          <a:p>
            <a:r>
              <a:rPr lang="es-CL" dirty="0">
                <a:latin typeface="Arial Black" panose="020B0A04020102020204" pitchFamily="34" charset="0"/>
              </a:rPr>
              <a:t>Curso: ME-7810</a:t>
            </a:r>
          </a:p>
        </p:txBody>
      </p:sp>
    </p:spTree>
    <p:extLst>
      <p:ext uri="{BB962C8B-B14F-4D97-AF65-F5344CB8AC3E}">
        <p14:creationId xmlns:p14="http://schemas.microsoft.com/office/powerpoint/2010/main" val="3189440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74DDF5-6291-6EA6-C092-E135AF75A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Aharoni" panose="02010803020104030203" pitchFamily="2" charset="-79"/>
                <a:cs typeface="Aharoni" panose="02010803020104030203" pitchFamily="2" charset="-79"/>
              </a:rPr>
              <a:t>¿Que es el </a:t>
            </a:r>
            <a:r>
              <a:rPr lang="es-CL" dirty="0" err="1">
                <a:latin typeface="Aharoni" panose="02010803020104030203" pitchFamily="2" charset="-79"/>
                <a:cs typeface="Aharoni" panose="02010803020104030203" pitchFamily="2" charset="-79"/>
              </a:rPr>
              <a:t>porpoising</a:t>
            </a:r>
            <a:r>
              <a:rPr lang="es-CL" dirty="0">
                <a:latin typeface="Aharoni" panose="02010803020104030203" pitchFamily="2" charset="-79"/>
                <a:cs typeface="Aharoni" panose="02010803020104030203" pitchFamily="2" charset="-79"/>
              </a:rPr>
              <a:t>?</a:t>
            </a:r>
          </a:p>
        </p:txBody>
      </p:sp>
      <p:pic>
        <p:nvPicPr>
          <p:cNvPr id="4" name="Elementos multimedia en línea 3" title="What Porpoising Feels Like | Formula 1 Testing 2022">
            <a:hlinkClick r:id="" action="ppaction://media"/>
            <a:extLst>
              <a:ext uri="{FF2B5EF4-FFF2-40B4-BE49-F238E27FC236}">
                <a16:creationId xmlns:a16="http://schemas.microsoft.com/office/drawing/2014/main" id="{4DC496CD-5A91-E1D7-AB34-A1B9A0C9AE91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61214" y="1815793"/>
            <a:ext cx="770731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283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Marcador de contenido 5" descr="Diagrama&#10;&#10;El contenido generado por IA puede ser incorrecto.">
            <a:extLst>
              <a:ext uri="{FF2B5EF4-FFF2-40B4-BE49-F238E27FC236}">
                <a16:creationId xmlns:a16="http://schemas.microsoft.com/office/drawing/2014/main" id="{97CCB811-7E5C-303D-3BA5-21E3E76618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" r="-1" b="-1"/>
          <a:stretch>
            <a:fillRect/>
          </a:stretch>
        </p:blipFill>
        <p:spPr>
          <a:xfrm>
            <a:off x="20" y="-1282"/>
            <a:ext cx="12191980" cy="6856718"/>
          </a:xfrm>
          <a:prstGeom prst="rect">
            <a:avLst/>
          </a:prstGeom>
        </p:spPr>
      </p:pic>
      <p:sp>
        <p:nvSpPr>
          <p:cNvPr id="19" name="Diagrama de flujo: conector 18">
            <a:extLst>
              <a:ext uri="{FF2B5EF4-FFF2-40B4-BE49-F238E27FC236}">
                <a16:creationId xmlns:a16="http://schemas.microsoft.com/office/drawing/2014/main" id="{AE7DA381-5033-452F-AFCA-2610481BD985}"/>
              </a:ext>
            </a:extLst>
          </p:cNvPr>
          <p:cNvSpPr/>
          <p:nvPr/>
        </p:nvSpPr>
        <p:spPr>
          <a:xfrm>
            <a:off x="402336" y="5614416"/>
            <a:ext cx="338328" cy="31089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77C803F-5348-8CA2-D6F2-B0952C5F8CA9}"/>
              </a:ext>
            </a:extLst>
          </p:cNvPr>
          <p:cNvSpPr txBox="1"/>
          <p:nvPr/>
        </p:nvSpPr>
        <p:spPr>
          <a:xfrm>
            <a:off x="813815" y="5585198"/>
            <a:ext cx="2391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>
                <a:latin typeface="Aharoni" panose="02010803020104030203" pitchFamily="2" charset="-79"/>
                <a:cs typeface="Aharoni" panose="02010803020104030203" pitchFamily="2" charset="-79"/>
              </a:rPr>
              <a:t>Centro de gravedad</a:t>
            </a: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472C8F52-D739-9BBF-4F06-EB4AA416EC91}"/>
              </a:ext>
            </a:extLst>
          </p:cNvPr>
          <p:cNvCxnSpPr/>
          <p:nvPr/>
        </p:nvCxnSpPr>
        <p:spPr>
          <a:xfrm flipH="1">
            <a:off x="2916936" y="2944368"/>
            <a:ext cx="658368" cy="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7998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37A301-6E74-D818-AE8A-9212A6629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00" y="1128094"/>
            <a:ext cx="3434180" cy="1415270"/>
          </a:xfrm>
        </p:spPr>
        <p:txBody>
          <a:bodyPr anchor="t">
            <a:normAutofit/>
          </a:bodyPr>
          <a:lstStyle/>
          <a:p>
            <a:r>
              <a:rPr lang="es-CL" sz="3200" b="1" dirty="0">
                <a:latin typeface="Abadi" panose="020B0604020104020204" pitchFamily="34" charset="0"/>
                <a:cs typeface="Aharoni" panose="02010803020104030203" pitchFamily="2" charset="-79"/>
              </a:rPr>
              <a:t>Objetivo</a:t>
            </a:r>
          </a:p>
        </p:txBody>
      </p:sp>
      <p:sp>
        <p:nvSpPr>
          <p:cNvPr id="2055" name="Rectangle 2054">
            <a:extLst>
              <a:ext uri="{FF2B5EF4-FFF2-40B4-BE49-F238E27FC236}">
                <a16:creationId xmlns:a16="http://schemas.microsoft.com/office/drawing/2014/main" id="{7ED7575E-88D2-B771-681D-46A7E5541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76457" cy="68580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El &quot;Profe&quot; Juárez explica el efecto &quot;porpoising&quot; | Campeones">
            <a:extLst>
              <a:ext uri="{FF2B5EF4-FFF2-40B4-BE49-F238E27FC236}">
                <a16:creationId xmlns:a16="http://schemas.microsoft.com/office/drawing/2014/main" id="{F85CABFB-7B69-247F-C324-B7C21D641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9235" y="1363531"/>
            <a:ext cx="6221895" cy="4137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57" name="Straight Connector 2056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9A8722-2D6C-E570-D9E1-C16F28787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3400" y="2543364"/>
            <a:ext cx="3434180" cy="3599019"/>
          </a:xfrm>
        </p:spPr>
        <p:txBody>
          <a:bodyPr>
            <a:normAutofit/>
          </a:bodyPr>
          <a:lstStyle/>
          <a:p>
            <a:r>
              <a:rPr lang="es-CL" sz="2000" b="1" dirty="0">
                <a:latin typeface="Abadi" panose="020B0604020104020204" pitchFamily="34" charset="0"/>
                <a:cs typeface="Aharoni" panose="02010803020104030203" pitchFamily="2" charset="-79"/>
              </a:rPr>
              <a:t>Simular mediante ecuaciones de movimiento y métodos numéricos, el fenómeno de </a:t>
            </a:r>
            <a:r>
              <a:rPr lang="es-CL" sz="2000" b="1" dirty="0" err="1">
                <a:latin typeface="Abadi" panose="020B0604020104020204" pitchFamily="34" charset="0"/>
                <a:cs typeface="Aharoni" panose="02010803020104030203" pitchFamily="2" charset="-79"/>
              </a:rPr>
              <a:t>porpoising</a:t>
            </a:r>
            <a:r>
              <a:rPr lang="es-CL" sz="2000" b="1" dirty="0">
                <a:latin typeface="Abadi" panose="020B0604020104020204" pitchFamily="34" charset="0"/>
                <a:cs typeface="Aharoni" panose="02010803020104030203" pitchFamily="2" charset="-79"/>
              </a:rPr>
              <a:t> en autos de F1</a:t>
            </a:r>
          </a:p>
        </p:txBody>
      </p:sp>
    </p:spTree>
    <p:extLst>
      <p:ext uri="{BB962C8B-B14F-4D97-AF65-F5344CB8AC3E}">
        <p14:creationId xmlns:p14="http://schemas.microsoft.com/office/powerpoint/2010/main" val="1389984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4C43E6-1A57-ED01-B6B2-0942895FC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Abadi" panose="020B0604020104020204" pitchFamily="34" charset="0"/>
              </a:rPr>
              <a:t>Definición de variables de estado y parámetros básicos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FACD2F-48CE-7ECA-8B9C-DA2C49DD2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853BB50-5A1E-20A3-BA4B-A8C3D3C06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928" y="1904744"/>
            <a:ext cx="7430144" cy="95258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1E7B26E-EFBE-271E-97EA-1735A7C34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5754" y="3015875"/>
            <a:ext cx="5334462" cy="150127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C0597FB-1AE4-5F7F-97D4-4EE247E0AD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0124" y="4924107"/>
            <a:ext cx="1836579" cy="84589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2365E56-B2B2-4962-DF68-AD80B86E6D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2798" y="4652082"/>
            <a:ext cx="2408129" cy="123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047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86B2BF-8AE6-4190-B410-8162C706C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Abadi" panose="020F0502020204030204" pitchFamily="34" charset="0"/>
              </a:rPr>
              <a:t>Cinemática vertical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598F60-253C-9421-8087-1DF05C3E2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844A680-7D3F-32B9-DB8B-F23705930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3751" y="1690688"/>
            <a:ext cx="5433531" cy="119644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33B8D5B-CB9A-7956-A2E9-36CA12709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150" y="3222009"/>
            <a:ext cx="6233700" cy="99068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7D8D28D-4D07-2C40-D814-38A571AFAF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2461" y="4735541"/>
            <a:ext cx="6340389" cy="100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238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26928F-FE97-30E5-9FC6-EFCB3D04E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>
                <a:latin typeface="Abadi" panose="020B0604020104020204" pitchFamily="34" charset="0"/>
              </a:rPr>
              <a:t>Fuerzas y momentos suspensión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ED1F71-C3AA-5079-D69C-FF47B2697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9736974-59AB-6E97-F819-B3612CEC5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909" y="2594610"/>
            <a:ext cx="6706181" cy="99068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A2F8326-69FB-59C7-C4A7-59D7A3A68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2273" y="5004821"/>
            <a:ext cx="8207451" cy="46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773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6A35D6-0476-5F43-3469-2BC0AF211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>
                <a:latin typeface="Abadi" panose="020B0604020104020204" pitchFamily="34" charset="0"/>
              </a:rPr>
              <a:t>Perfil de velocidad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B923A94A-43F8-528F-632B-A4267B1B20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9404" y="2645294"/>
            <a:ext cx="6226080" cy="127265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5DD6BA6-F76F-4021-3171-D7EF1A6FB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6795" y="2025216"/>
            <a:ext cx="2834886" cy="54106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859DEE6-A732-AFB2-FE20-EE42AD91F5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736" y="4613447"/>
            <a:ext cx="1806097" cy="518205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36A1B3C0-17B7-F777-BE7C-0B9BD1EBB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9180" y="1563015"/>
            <a:ext cx="4683416" cy="3731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6186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256473-7018-799E-52B5-C0773E5A9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717" y="591156"/>
            <a:ext cx="10515600" cy="1325563"/>
          </a:xfrm>
        </p:spPr>
        <p:txBody>
          <a:bodyPr/>
          <a:lstStyle/>
          <a:p>
            <a:r>
              <a:rPr lang="es-CL" b="1" dirty="0">
                <a:latin typeface="Abadi" panose="020B0604020104020204" pitchFamily="34" charset="0"/>
              </a:rPr>
              <a:t>Modelo del efecto suelo</a:t>
            </a:r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81BAA296-D681-43C6-9324-720007609D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9296" y="4628384"/>
            <a:ext cx="4267570" cy="47248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1AD191F-8D26-1326-92E4-E0C9C8ACC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17" y="1916774"/>
            <a:ext cx="5639289" cy="112023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E081EA4-54F2-9CF7-0256-96DE2CD9EB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17" y="3191834"/>
            <a:ext cx="5776461" cy="876376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1F242817-EA14-67C3-23EF-49EA083AC8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0611" y="2336104"/>
            <a:ext cx="4648672" cy="2075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1753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A6CC3-891F-47F4-E887-FCB0BADD3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>
                <a:latin typeface="Abadi" panose="020B0604020104020204" pitchFamily="34" charset="0"/>
              </a:rPr>
              <a:t>Alerón delantero y trasero</a:t>
            </a:r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0EED6469-36D1-497C-82BB-D2A3264622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90484" y="5119954"/>
            <a:ext cx="4656223" cy="45724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889C552-4785-6930-3E74-3C407A991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937" y="2000285"/>
            <a:ext cx="6683319" cy="96782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DD671C8-1D53-8D1F-A38A-264F7AB53A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937" y="3277706"/>
            <a:ext cx="6569009" cy="89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565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7337D6-2AB7-A765-FC32-4765C148B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>
                <a:latin typeface="Abadi" panose="020B0604020104020204" pitchFamily="34" charset="0"/>
              </a:rPr>
              <a:t>Momentos aerodinámicos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DD568D-E6CD-4DFF-4F24-49E1E54FF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A3EE5AA-C165-2E32-0A8E-5A2CE16F3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477" y="2075522"/>
            <a:ext cx="6287045" cy="163844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0080C33-49CA-FE81-9DEA-CAE0688EF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583" y="4082232"/>
            <a:ext cx="7978831" cy="51058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8E13668-87ED-DCFE-3303-FA453BC64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7270" y="4961085"/>
            <a:ext cx="6142252" cy="472481"/>
          </a:xfrm>
          <a:prstGeom prst="rect">
            <a:avLst/>
          </a:prstGeom>
        </p:spPr>
      </p:pic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6464DACD-3A5F-080E-A259-C7F4E87412B5}"/>
              </a:ext>
            </a:extLst>
          </p:cNvPr>
          <p:cNvSpPr/>
          <p:nvPr/>
        </p:nvSpPr>
        <p:spPr>
          <a:xfrm>
            <a:off x="1700563" y="4979856"/>
            <a:ext cx="812039" cy="405033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1176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CC2A2D-B199-1288-0D0D-5FCCA6F9C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>
                <a:latin typeface="Abadi" panose="020B0604020104020204" pitchFamily="34" charset="0"/>
              </a:rPr>
              <a:t>Ecuaciones de movimiento</a:t>
            </a:r>
          </a:p>
        </p:txBody>
      </p:sp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94CCD172-FCFF-A1ED-9651-674C5FB58A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5078" y="4263311"/>
            <a:ext cx="1928027" cy="138696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C1DEA61-FC94-602D-580E-A3EBD24D2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628" y="1865948"/>
            <a:ext cx="9228620" cy="70110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D571F6D-A5B3-A87A-C267-DC68029AD4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6018" y="2701986"/>
            <a:ext cx="5989839" cy="845893"/>
          </a:xfrm>
          <a:prstGeom prst="rect">
            <a:avLst/>
          </a:prstGeom>
        </p:spPr>
      </p:pic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17EA94BC-4DC4-765E-9A37-E739F78418C7}"/>
              </a:ext>
            </a:extLst>
          </p:cNvPr>
          <p:cNvSpPr/>
          <p:nvPr/>
        </p:nvSpPr>
        <p:spPr>
          <a:xfrm>
            <a:off x="5554917" y="4754274"/>
            <a:ext cx="812039" cy="405033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1EB26A88-6DB8-35BE-7BA2-38D789374C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210" y="4250468"/>
            <a:ext cx="2949196" cy="138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678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20BD5-AD43-18C8-7AB0-173C8D82F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>
                <a:latin typeface="Abadi" panose="020B0604020104020204" pitchFamily="34" charset="0"/>
              </a:rPr>
              <a:t>Condiciones iniciales 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87D52EB2-2795-A445-A838-B87928C2B6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62573" y="3116486"/>
            <a:ext cx="1920406" cy="140982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DBF3041-4874-BD8E-1615-A7BF98866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446" y="3592777"/>
            <a:ext cx="835224" cy="45724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B9C5A08-B681-93CE-0C1D-9393D5F547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212" y="2750694"/>
            <a:ext cx="5532599" cy="214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546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3FB55B-456B-B641-B625-26599E0B2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>
                <a:latin typeface="Abadi" panose="020B0604020104020204" pitchFamily="34" charset="0"/>
              </a:rPr>
              <a:t>Esquema numérico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C3C8E830-A69F-2BBF-F3DB-0628D9F21C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8709" y="5226242"/>
            <a:ext cx="4282811" cy="85351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9AA1DC8-2603-4B02-6E6F-70A78EF59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5737" y="1690688"/>
            <a:ext cx="6980525" cy="306350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C73290A-E2ED-8D38-29A8-4921723104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3510" y="5252164"/>
            <a:ext cx="1752752" cy="54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851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6C56FB-247B-95F6-A5F4-8CAC2A168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4069"/>
            <a:ext cx="10515600" cy="1325563"/>
          </a:xfrm>
        </p:spPr>
        <p:txBody>
          <a:bodyPr/>
          <a:lstStyle/>
          <a:p>
            <a:pPr algn="ctr"/>
            <a:r>
              <a:rPr lang="es-CL" b="1" dirty="0">
                <a:latin typeface="Abadi" panose="020B0604020104020204" pitchFamily="34" charset="0"/>
              </a:rPr>
              <a:t>Resultados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E031DB-436A-0D84-1C7B-0F723B9E0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67252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EBC44D-2037-03D1-2604-83EC70CFE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E11C5C91-098F-5252-386C-DEF97A1FF1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27384" y="5306352"/>
            <a:ext cx="3718882" cy="60965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4BE6C35-FDCF-6217-B6CC-193C1768D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512" y="5306352"/>
            <a:ext cx="3543607" cy="579170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43337D8-635D-F1B3-AE38-E4786480F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5007" y="1008242"/>
            <a:ext cx="5581650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88524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559CB3-4D8C-A5A3-1D45-5458DD2E5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86BBF7-0D9D-8E37-A4A5-939649EF3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537A7B1-6EAE-8090-7863-944E980846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>
            <a:fillRect/>
          </a:stretch>
        </p:blipFill>
        <p:spPr bwMode="auto">
          <a:xfrm>
            <a:off x="2446641" y="2288131"/>
            <a:ext cx="7524750" cy="280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E713406-D471-7ABA-4EE5-9BF2B3BDD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901" y="5321227"/>
            <a:ext cx="3330229" cy="63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2498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180666-D722-CF21-E9FD-BFC0319D6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65F14E-5D4F-E5FE-6DC7-1648845AF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EA35DF7-B98D-FD61-3132-2D4FC9300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1086" y="1011430"/>
            <a:ext cx="5476875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9A7E5B4-9512-86EB-9AB0-5360AF46A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1400" y="5450543"/>
            <a:ext cx="4275190" cy="54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611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FAC091-38AF-6F34-4CD0-1FE1E55E8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D31167-39C9-92B8-4B63-0D8C078A8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FE79EBD-8A8C-FE9C-0320-750843D00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144" y="5404924"/>
            <a:ext cx="3139712" cy="502964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B0535831-69FF-9803-9B76-D57537545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411" y="821639"/>
            <a:ext cx="5657850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7276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004630-18B5-6E05-9D3A-94DEBFB0D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98E36D-A147-28BB-4FEC-122B499BF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ABB1C62-DED1-E7A7-B8C3-F4895F5A0B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>
            <a:fillRect/>
          </a:stretch>
        </p:blipFill>
        <p:spPr bwMode="auto">
          <a:xfrm>
            <a:off x="2333625" y="2024062"/>
            <a:ext cx="7524750" cy="280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51328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F78F0F-8AC5-6EF7-34F1-CBDC6D4E7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7E43B55-12D3-03C1-26A1-B2559552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uadroTexto 3">
            <a:extLst>
              <a:ext uri="{FF2B5EF4-FFF2-40B4-BE49-F238E27FC236}">
                <a16:creationId xmlns:a16="http://schemas.microsoft.com/office/drawing/2014/main" id="{E72A64B6-E52B-8832-8D79-ADD817CBB7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1188717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28771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D6CC1C-40A4-99DD-F867-BA62E9D15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>
                <a:latin typeface="Abadi" panose="020B0604020104020204" pitchFamily="34" charset="0"/>
              </a:rPr>
              <a:t>Referencias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1CF7F7-F630-C6A7-C69F-241900FFD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>
                <a:hlinkClick r:id="rId2"/>
              </a:rPr>
              <a:t>https://www.mdpi.com/1996-1073/15/18/6677</a:t>
            </a:r>
            <a:endParaRPr lang="es-CL" dirty="0"/>
          </a:p>
          <a:p>
            <a:r>
              <a:rPr lang="es-CL" dirty="0">
                <a:hlinkClick r:id="rId3"/>
              </a:rPr>
              <a:t>https://sites.usp.br/ldsv/wp-content/uploads/sites/1453/2024/08/High-downforce-race-car-vertical-dynamics-aerodynamic-index_17.pdf?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8499011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27B6F-84D8-D934-8311-958B887CD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2E8E32-D289-D59F-DA6D-92CFCFEFF5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CL" sz="4800" dirty="0">
                <a:latin typeface="Arial Black" panose="020B0A04020102020204" pitchFamily="34" charset="0"/>
                <a:cs typeface="Aharoni" panose="02010803020104030203" pitchFamily="2" charset="-79"/>
              </a:rPr>
              <a:t>Simulación de </a:t>
            </a:r>
            <a:r>
              <a:rPr lang="es-CL" sz="4800" dirty="0" err="1">
                <a:latin typeface="Arial Black" panose="020B0A04020102020204" pitchFamily="34" charset="0"/>
                <a:cs typeface="Aharoni" panose="02010803020104030203" pitchFamily="2" charset="-79"/>
              </a:rPr>
              <a:t>porpoising</a:t>
            </a:r>
            <a:r>
              <a:rPr lang="es-CL" sz="4800" dirty="0">
                <a:latin typeface="Arial Black" panose="020B0A04020102020204" pitchFamily="34" charset="0"/>
                <a:cs typeface="Aharoni" panose="02010803020104030203" pitchFamily="2" charset="-79"/>
              </a:rPr>
              <a:t> en autos de F1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27AB27A-7C13-87EE-D7B2-3C935F19CE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dirty="0">
                <a:latin typeface="Arial Black" panose="020B0A04020102020204" pitchFamily="34" charset="0"/>
              </a:rPr>
              <a:t>Nombre: Matías Vega</a:t>
            </a:r>
          </a:p>
          <a:p>
            <a:r>
              <a:rPr lang="es-CL" dirty="0">
                <a:latin typeface="Arial Black" panose="020B0A04020102020204" pitchFamily="34" charset="0"/>
              </a:rPr>
              <a:t>Curso: ME-7810</a:t>
            </a:r>
          </a:p>
        </p:txBody>
      </p:sp>
    </p:spTree>
    <p:extLst>
      <p:ext uri="{BB962C8B-B14F-4D97-AF65-F5344CB8AC3E}">
        <p14:creationId xmlns:p14="http://schemas.microsoft.com/office/powerpoint/2010/main" val="37251052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8875D6461332742A12275EF89A26B2B" ma:contentTypeVersion="5" ma:contentTypeDescription="Crear nuevo documento." ma:contentTypeScope="" ma:versionID="df9ed841418541dbb7b902318b8cc584">
  <xsd:schema xmlns:xsd="http://www.w3.org/2001/XMLSchema" xmlns:xs="http://www.w3.org/2001/XMLSchema" xmlns:p="http://schemas.microsoft.com/office/2006/metadata/properties" xmlns:ns3="883b00f2-9fe5-49ad-91be-42eaebca9750" targetNamespace="http://schemas.microsoft.com/office/2006/metadata/properties" ma:root="true" ma:fieldsID="80bcad249163b48f88398926f76c3f8a" ns3:_="">
    <xsd:import namespace="883b00f2-9fe5-49ad-91be-42eaebca975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3b00f2-9fe5-49ad-91be-42eaebca97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7212F14-42E5-4766-A765-03CEC2FE321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B147327-7E4D-41EB-9CF8-D106234C0C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3b00f2-9fe5-49ad-91be-42eaebca975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876C8C5-DCA2-468B-AA80-4C01457A089D}">
  <ds:schemaRefs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www.w3.org/XML/1998/namespace"/>
    <ds:schemaRef ds:uri="http://purl.org/dc/terms/"/>
    <ds:schemaRef ds:uri="883b00f2-9fe5-49ad-91be-42eaebca9750"/>
    <ds:schemaRef ds:uri="http://schemas.microsoft.com/office/2006/metadata/properties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2277</TotalTime>
  <Words>140</Words>
  <Application>Microsoft Office PowerPoint</Application>
  <PresentationFormat>Panorámica</PresentationFormat>
  <Paragraphs>28</Paragraphs>
  <Slides>23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0" baseType="lpstr">
      <vt:lpstr>Abadi</vt:lpstr>
      <vt:lpstr>Aharoni</vt:lpstr>
      <vt:lpstr>Aptos</vt:lpstr>
      <vt:lpstr>Aptos Display</vt:lpstr>
      <vt:lpstr>Arial</vt:lpstr>
      <vt:lpstr>Arial Black</vt:lpstr>
      <vt:lpstr>Tema de Office</vt:lpstr>
      <vt:lpstr>Simulación de porpoising en autos de F1</vt:lpstr>
      <vt:lpstr>¿Que es el porpoising?</vt:lpstr>
      <vt:lpstr>Presentación de PowerPoint</vt:lpstr>
      <vt:lpstr>Objetivo</vt:lpstr>
      <vt:lpstr>Definición de variables de estado y parámetros básicos</vt:lpstr>
      <vt:lpstr>Cinemática vertical</vt:lpstr>
      <vt:lpstr>Fuerzas y momentos suspensión</vt:lpstr>
      <vt:lpstr>Perfil de velocidad</vt:lpstr>
      <vt:lpstr>Modelo del efecto suelo</vt:lpstr>
      <vt:lpstr>Alerón delantero y trasero</vt:lpstr>
      <vt:lpstr>Momentos aerodinámicos</vt:lpstr>
      <vt:lpstr>Ecuaciones de movimiento</vt:lpstr>
      <vt:lpstr>Condiciones iniciales </vt:lpstr>
      <vt:lpstr>Esquema numérico</vt:lpstr>
      <vt:lpstr>Resultados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Conclusiones</vt:lpstr>
      <vt:lpstr>Referencias</vt:lpstr>
      <vt:lpstr>Simulación de porpoising en autos de F1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Matías Javier Vega Paredes (matias.vega.p)</dc:creator>
  <cp:lastModifiedBy>Matías Javier Vega Paredes (matias.vega.p)</cp:lastModifiedBy>
  <cp:revision>5</cp:revision>
  <dcterms:created xsi:type="dcterms:W3CDTF">2025-12-03T01:06:02Z</dcterms:created>
  <dcterms:modified xsi:type="dcterms:W3CDTF">2025-12-04T15:13:36Z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0x010100F8875D6461332742A12275EF89A26B2B</vt:lpwstr>
  </property>
</Properties>
</file>